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66" r:id="rId5"/>
    <p:sldId id="268" r:id="rId6"/>
    <p:sldId id="265" r:id="rId7"/>
    <p:sldId id="258" r:id="rId8"/>
    <p:sldId id="267" r:id="rId9"/>
    <p:sldId id="259" r:id="rId10"/>
    <p:sldId id="261" r:id="rId11"/>
    <p:sldId id="262" r:id="rId12"/>
    <p:sldId id="26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6CCA6-D980-4154-935F-35354B2F47D5}" v="167" dt="2026-02-24T11:12:51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Kloster Pedersen" userId="8b3898f0-b725-47a6-a5c5-3ea5c154e59f" providerId="ADAL" clId="{36971DC2-A25A-4A45-9884-C0FD8D945B25}"/>
    <pc:docChg chg="undo custSel modSld">
      <pc:chgData name="Jesper Kloster Pedersen" userId="8b3898f0-b725-47a6-a5c5-3ea5c154e59f" providerId="ADAL" clId="{36971DC2-A25A-4A45-9884-C0FD8D945B25}" dt="2026-02-24T11:12:51.523" v="312" actId="20577"/>
      <pc:docMkLst>
        <pc:docMk/>
      </pc:docMkLst>
      <pc:sldChg chg="modSp mod">
        <pc:chgData name="Jesper Kloster Pedersen" userId="8b3898f0-b725-47a6-a5c5-3ea5c154e59f" providerId="ADAL" clId="{36971DC2-A25A-4A45-9884-C0FD8D945B25}" dt="2026-02-24T10:43:50.632" v="3" actId="20577"/>
        <pc:sldMkLst>
          <pc:docMk/>
          <pc:sldMk cId="0" sldId="257"/>
        </pc:sldMkLst>
        <pc:spChg chg="mod">
          <ac:chgData name="Jesper Kloster Pedersen" userId="8b3898f0-b725-47a6-a5c5-3ea5c154e59f" providerId="ADAL" clId="{36971DC2-A25A-4A45-9884-C0FD8D945B25}" dt="2026-02-24T10:43:50.632" v="3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Jesper Kloster Pedersen" userId="8b3898f0-b725-47a6-a5c5-3ea5c154e59f" providerId="ADAL" clId="{36971DC2-A25A-4A45-9884-C0FD8D945B25}" dt="2026-02-24T10:52:01.637" v="54" actId="20577"/>
        <pc:sldMkLst>
          <pc:docMk/>
          <pc:sldMk cId="0" sldId="258"/>
        </pc:sldMkLst>
        <pc:graphicFrameChg chg="modGraphic">
          <ac:chgData name="Jesper Kloster Pedersen" userId="8b3898f0-b725-47a6-a5c5-3ea5c154e59f" providerId="ADAL" clId="{36971DC2-A25A-4A45-9884-C0FD8D945B25}" dt="2026-02-24T10:52:01.637" v="54" actId="20577"/>
          <ac:graphicFrameMkLst>
            <pc:docMk/>
            <pc:sldMk cId="0" sldId="258"/>
            <ac:graphicFrameMk id="17" creationId="{00000000-0000-0000-0000-000000000000}"/>
          </ac:graphicFrameMkLst>
        </pc:graphicFrameChg>
      </pc:sldChg>
      <pc:sldChg chg="modSp mod">
        <pc:chgData name="Jesper Kloster Pedersen" userId="8b3898f0-b725-47a6-a5c5-3ea5c154e59f" providerId="ADAL" clId="{36971DC2-A25A-4A45-9884-C0FD8D945B25}" dt="2026-02-24T11:05:08.859" v="177" actId="20577"/>
        <pc:sldMkLst>
          <pc:docMk/>
          <pc:sldMk cId="0" sldId="262"/>
        </pc:sldMkLst>
        <pc:spChg chg="mod">
          <ac:chgData name="Jesper Kloster Pedersen" userId="8b3898f0-b725-47a6-a5c5-3ea5c154e59f" providerId="ADAL" clId="{36971DC2-A25A-4A45-9884-C0FD8D945B25}" dt="2026-02-24T11:04:56.747" v="163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Jesper Kloster Pedersen" userId="8b3898f0-b725-47a6-a5c5-3ea5c154e59f" providerId="ADAL" clId="{36971DC2-A25A-4A45-9884-C0FD8D945B25}" dt="2026-02-24T11:05:05.238" v="169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esper Kloster Pedersen" userId="8b3898f0-b725-47a6-a5c5-3ea5c154e59f" providerId="ADAL" clId="{36971DC2-A25A-4A45-9884-C0FD8D945B25}" dt="2026-02-24T11:05:08.859" v="177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esper Kloster Pedersen" userId="8b3898f0-b725-47a6-a5c5-3ea5c154e59f" providerId="ADAL" clId="{36971DC2-A25A-4A45-9884-C0FD8D945B25}" dt="2026-02-24T10:59:08.736" v="75"/>
          <ac:spMkLst>
            <pc:docMk/>
            <pc:sldMk cId="0" sldId="262"/>
            <ac:spMk id="31" creationId="{00000000-0000-0000-0000-000000000000}"/>
          </ac:spMkLst>
        </pc:spChg>
      </pc:sldChg>
      <pc:sldChg chg="addSp modSp mod">
        <pc:chgData name="Jesper Kloster Pedersen" userId="8b3898f0-b725-47a6-a5c5-3ea5c154e59f" providerId="ADAL" clId="{36971DC2-A25A-4A45-9884-C0FD8D945B25}" dt="2026-02-24T10:48:12.612" v="51" actId="1076"/>
        <pc:sldMkLst>
          <pc:docMk/>
          <pc:sldMk cId="2436091635" sldId="266"/>
        </pc:sldMkLst>
        <pc:spChg chg="add mod">
          <ac:chgData name="Jesper Kloster Pedersen" userId="8b3898f0-b725-47a6-a5c5-3ea5c154e59f" providerId="ADAL" clId="{36971DC2-A25A-4A45-9884-C0FD8D945B25}" dt="2026-02-24T10:48:09.027" v="50" actId="1076"/>
          <ac:spMkLst>
            <pc:docMk/>
            <pc:sldMk cId="2436091635" sldId="266"/>
            <ac:spMk id="4" creationId="{8D9BE587-1EA5-2BCD-C530-CD8CCB529EF9}"/>
          </ac:spMkLst>
        </pc:spChg>
        <pc:spChg chg="mod">
          <ac:chgData name="Jesper Kloster Pedersen" userId="8b3898f0-b725-47a6-a5c5-3ea5c154e59f" providerId="ADAL" clId="{36971DC2-A25A-4A45-9884-C0FD8D945B25}" dt="2026-02-24T10:48:12.612" v="51" actId="1076"/>
          <ac:spMkLst>
            <pc:docMk/>
            <pc:sldMk cId="2436091635" sldId="266"/>
            <ac:spMk id="5" creationId="{58AE9C65-BA9A-1116-84B0-00B2621A657F}"/>
          </ac:spMkLst>
        </pc:spChg>
        <pc:spChg chg="mod">
          <ac:chgData name="Jesper Kloster Pedersen" userId="8b3898f0-b725-47a6-a5c5-3ea5c154e59f" providerId="ADAL" clId="{36971DC2-A25A-4A45-9884-C0FD8D945B25}" dt="2026-02-24T10:44:30.222" v="4" actId="1076"/>
          <ac:spMkLst>
            <pc:docMk/>
            <pc:sldMk cId="2436091635" sldId="266"/>
            <ac:spMk id="6" creationId="{21183107-2096-B754-983E-EB217B8A13AD}"/>
          </ac:spMkLst>
        </pc:spChg>
        <pc:spChg chg="mod">
          <ac:chgData name="Jesper Kloster Pedersen" userId="8b3898f0-b725-47a6-a5c5-3ea5c154e59f" providerId="ADAL" clId="{36971DC2-A25A-4A45-9884-C0FD8D945B25}" dt="2026-02-24T10:44:30.222" v="4" actId="1076"/>
          <ac:spMkLst>
            <pc:docMk/>
            <pc:sldMk cId="2436091635" sldId="266"/>
            <ac:spMk id="13" creationId="{38F6633E-502F-550E-9752-AB404DD4C628}"/>
          </ac:spMkLst>
        </pc:spChg>
        <pc:picChg chg="mod">
          <ac:chgData name="Jesper Kloster Pedersen" userId="8b3898f0-b725-47a6-a5c5-3ea5c154e59f" providerId="ADAL" clId="{36971DC2-A25A-4A45-9884-C0FD8D945B25}" dt="2026-02-24T10:44:30.222" v="4" actId="1076"/>
          <ac:picMkLst>
            <pc:docMk/>
            <pc:sldMk cId="2436091635" sldId="266"/>
            <ac:picMk id="8" creationId="{A8433194-45EF-69D0-9E49-1ADF5D4A5DC6}"/>
          </ac:picMkLst>
        </pc:picChg>
        <pc:picChg chg="mod">
          <ac:chgData name="Jesper Kloster Pedersen" userId="8b3898f0-b725-47a6-a5c5-3ea5c154e59f" providerId="ADAL" clId="{36971DC2-A25A-4A45-9884-C0FD8D945B25}" dt="2026-02-24T10:44:30.222" v="4" actId="1076"/>
          <ac:picMkLst>
            <pc:docMk/>
            <pc:sldMk cId="2436091635" sldId="266"/>
            <ac:picMk id="12" creationId="{9DA038C4-A3EC-A452-9DC0-F6C164A49067}"/>
          </ac:picMkLst>
        </pc:picChg>
      </pc:sldChg>
      <pc:sldChg chg="modSp mod">
        <pc:chgData name="Jesper Kloster Pedersen" userId="8b3898f0-b725-47a6-a5c5-3ea5c154e59f" providerId="ADAL" clId="{36971DC2-A25A-4A45-9884-C0FD8D945B25}" dt="2026-02-24T11:12:51.523" v="312" actId="20577"/>
        <pc:sldMkLst>
          <pc:docMk/>
          <pc:sldMk cId="2832114893" sldId="267"/>
        </pc:sldMkLst>
        <pc:spChg chg="mod">
          <ac:chgData name="Jesper Kloster Pedersen" userId="8b3898f0-b725-47a6-a5c5-3ea5c154e59f" providerId="ADAL" clId="{36971DC2-A25A-4A45-9884-C0FD8D945B25}" dt="2026-02-24T11:12:51.523" v="312" actId="20577"/>
          <ac:spMkLst>
            <pc:docMk/>
            <pc:sldMk cId="2832114893" sldId="267"/>
            <ac:spMk id="49" creationId="{03D46866-298E-8A7F-4CCB-C7D0187A33A0}"/>
          </ac:spMkLst>
        </pc:spChg>
      </pc:sldChg>
      <pc:sldChg chg="addSp modSp mod">
        <pc:chgData name="Jesper Kloster Pedersen" userId="8b3898f0-b725-47a6-a5c5-3ea5c154e59f" providerId="ADAL" clId="{36971DC2-A25A-4A45-9884-C0FD8D945B25}" dt="2026-02-24T10:52:39.457" v="73" actId="20577"/>
        <pc:sldMkLst>
          <pc:docMk/>
          <pc:sldMk cId="2050079245" sldId="268"/>
        </pc:sldMkLst>
        <pc:spChg chg="add mod">
          <ac:chgData name="Jesper Kloster Pedersen" userId="8b3898f0-b725-47a6-a5c5-3ea5c154e59f" providerId="ADAL" clId="{36971DC2-A25A-4A45-9884-C0FD8D945B25}" dt="2026-02-24T10:52:39.457" v="73" actId="20577"/>
          <ac:spMkLst>
            <pc:docMk/>
            <pc:sldMk cId="2050079245" sldId="268"/>
            <ac:spMk id="2" creationId="{FEC91343-3482-6576-60AB-9BE4A1D3C22A}"/>
          </ac:spMkLst>
        </pc:spChg>
      </pc:sldChg>
    </pc:docChg>
  </pc:docChgLst>
  <pc:docChgLst>
    <pc:chgData name="Jesper Kloster Pedersen" userId="8b3898f0-b725-47a6-a5c5-3ea5c154e59f" providerId="ADAL" clId="{9AB18241-C3E0-45BB-958E-C218E0624530}"/>
    <pc:docChg chg="modSld">
      <pc:chgData name="Jesper Kloster Pedersen" userId="8b3898f0-b725-47a6-a5c5-3ea5c154e59f" providerId="ADAL" clId="{9AB18241-C3E0-45BB-958E-C218E0624530}" dt="2026-02-23T08:38:33.427" v="92" actId="20577"/>
      <pc:docMkLst>
        <pc:docMk/>
      </pc:docMkLst>
      <pc:sldChg chg="modSp">
        <pc:chgData name="Jesper Kloster Pedersen" userId="8b3898f0-b725-47a6-a5c5-3ea5c154e59f" providerId="ADAL" clId="{9AB18241-C3E0-45BB-958E-C218E0624530}" dt="2026-02-23T08:32:04.156" v="0" actId="20577"/>
        <pc:sldMkLst>
          <pc:docMk/>
          <pc:sldMk cId="2436091635" sldId="266"/>
        </pc:sldMkLst>
        <pc:spChg chg="mod">
          <ac:chgData name="Jesper Kloster Pedersen" userId="8b3898f0-b725-47a6-a5c5-3ea5c154e59f" providerId="ADAL" clId="{9AB18241-C3E0-45BB-958E-C218E0624530}" dt="2026-02-23T08:32:04.156" v="0" actId="20577"/>
          <ac:spMkLst>
            <pc:docMk/>
            <pc:sldMk cId="2436091635" sldId="266"/>
            <ac:spMk id="5" creationId="{58AE9C65-BA9A-1116-84B0-00B2621A657F}"/>
          </ac:spMkLst>
        </pc:spChg>
      </pc:sldChg>
      <pc:sldChg chg="modSp mod">
        <pc:chgData name="Jesper Kloster Pedersen" userId="8b3898f0-b725-47a6-a5c5-3ea5c154e59f" providerId="ADAL" clId="{9AB18241-C3E0-45BB-958E-C218E0624530}" dt="2026-02-23T08:38:33.427" v="92" actId="20577"/>
        <pc:sldMkLst>
          <pc:docMk/>
          <pc:sldMk cId="2832114893" sldId="267"/>
        </pc:sldMkLst>
        <pc:spChg chg="mod">
          <ac:chgData name="Jesper Kloster Pedersen" userId="8b3898f0-b725-47a6-a5c5-3ea5c154e59f" providerId="ADAL" clId="{9AB18241-C3E0-45BB-958E-C218E0624530}" dt="2026-02-23T08:38:33.427" v="92" actId="20577"/>
          <ac:spMkLst>
            <pc:docMk/>
            <pc:sldMk cId="2832114893" sldId="267"/>
            <ac:spMk id="51" creationId="{9C8585DE-67D7-556E-766F-CEF120FDEE6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ν=0.30</c:v>
                </c:pt>
              </c:strCache>
            </c:strRef>
          </c:tx>
          <c:spPr>
            <a:ln w="3175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L=1</c:v>
                </c:pt>
                <c:pt idx="1">
                  <c:v>L=2</c:v>
                </c:pt>
                <c:pt idx="2">
                  <c:v>L=4</c:v>
                </c:pt>
                <c:pt idx="3">
                  <c:v>L=8</c:v>
                </c:pt>
                <c:pt idx="4">
                  <c:v>L=12</c:v>
                </c:pt>
                <c:pt idx="5">
                  <c:v>L=16</c:v>
                </c:pt>
                <c:pt idx="6">
                  <c:v>L=20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1.3684000000000001</c:v>
                </c:pt>
                <c:pt idx="1">
                  <c:v>0.84499999999999997</c:v>
                </c:pt>
                <c:pt idx="2">
                  <c:v>0.60940000000000005</c:v>
                </c:pt>
                <c:pt idx="3">
                  <c:v>0.35139999999999999</c:v>
                </c:pt>
                <c:pt idx="4">
                  <c:v>0.20930000000000001</c:v>
                </c:pt>
                <c:pt idx="5">
                  <c:v>0.1338</c:v>
                </c:pt>
                <c:pt idx="6">
                  <c:v>9.1399999999999995E-2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56-461A-8F8F-DD45D7E2DF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ν=0.40</c:v>
                </c:pt>
              </c:strCache>
            </c:strRef>
          </c:tx>
          <c:spPr>
            <a:ln w="31750" cap="flat">
              <a:solidFill>
                <a:srgbClr val="1976D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976D2"/>
              </a:solidFill>
              <a:ln w="9525" cap="flat">
                <a:solidFill>
                  <a:srgbClr val="1976D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L=1</c:v>
                </c:pt>
                <c:pt idx="1">
                  <c:v>L=2</c:v>
                </c:pt>
                <c:pt idx="2">
                  <c:v>L=4</c:v>
                </c:pt>
                <c:pt idx="3">
                  <c:v>L=8</c:v>
                </c:pt>
                <c:pt idx="4">
                  <c:v>L=12</c:v>
                </c:pt>
                <c:pt idx="5">
                  <c:v>L=16</c:v>
                </c:pt>
                <c:pt idx="6">
                  <c:v>L=20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1.1546000000000001</c:v>
                </c:pt>
                <c:pt idx="1">
                  <c:v>0.61599999999999999</c:v>
                </c:pt>
                <c:pt idx="2">
                  <c:v>0.4375</c:v>
                </c:pt>
                <c:pt idx="3">
                  <c:v>0.28660000000000002</c:v>
                </c:pt>
                <c:pt idx="4">
                  <c:v>0.18859999999999999</c:v>
                </c:pt>
                <c:pt idx="5">
                  <c:v>0.128</c:v>
                </c:pt>
                <c:pt idx="6">
                  <c:v>9.0700000000000003E-2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56-461A-8F8F-DD45D7E2DF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ν=0.45</c:v>
                </c:pt>
              </c:strCache>
            </c:strRef>
          </c:tx>
          <c:spPr>
            <a:ln w="31750" cap="flat">
              <a:solidFill>
                <a:srgbClr val="42A5F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2A5F5"/>
              </a:solidFill>
              <a:ln w="9525" cap="flat">
                <a:solidFill>
                  <a:srgbClr val="42A5F5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L=1</c:v>
                </c:pt>
                <c:pt idx="1">
                  <c:v>L=2</c:v>
                </c:pt>
                <c:pt idx="2">
                  <c:v>L=4</c:v>
                </c:pt>
                <c:pt idx="3">
                  <c:v>L=8</c:v>
                </c:pt>
                <c:pt idx="4">
                  <c:v>L=12</c:v>
                </c:pt>
                <c:pt idx="5">
                  <c:v>L=16</c:v>
                </c:pt>
                <c:pt idx="6">
                  <c:v>L=20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0.98309999999999997</c:v>
                </c:pt>
                <c:pt idx="1">
                  <c:v>0.435</c:v>
                </c:pt>
                <c:pt idx="2">
                  <c:v>0.28320000000000001</c:v>
                </c:pt>
                <c:pt idx="3">
                  <c:v>0.2016</c:v>
                </c:pt>
                <c:pt idx="4">
                  <c:v>0.14779999999999999</c:v>
                </c:pt>
                <c:pt idx="5">
                  <c:v>0.1086</c:v>
                </c:pt>
                <c:pt idx="6">
                  <c:v>8.1100000000000005E-2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D56-461A-8F8F-DD45D7E2DF4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ν=0.49</c:v>
                </c:pt>
              </c:strCache>
            </c:strRef>
          </c:tx>
          <c:spPr>
            <a:ln w="31750" cap="flat">
              <a:solidFill>
                <a:srgbClr val="EF6C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6C00"/>
              </a:solidFill>
              <a:ln w="9525" cap="flat">
                <a:solidFill>
                  <a:srgbClr val="EF6C0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L=1</c:v>
                </c:pt>
                <c:pt idx="1">
                  <c:v>L=2</c:v>
                </c:pt>
                <c:pt idx="2">
                  <c:v>L=4</c:v>
                </c:pt>
                <c:pt idx="3">
                  <c:v>L=8</c:v>
                </c:pt>
                <c:pt idx="4">
                  <c:v>L=12</c:v>
                </c:pt>
                <c:pt idx="5">
                  <c:v>L=16</c:v>
                </c:pt>
                <c:pt idx="6">
                  <c:v>L=20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0.8024</c:v>
                </c:pt>
                <c:pt idx="1">
                  <c:v>0.24349999999999999</c:v>
                </c:pt>
                <c:pt idx="2">
                  <c:v>0.10299999999999999</c:v>
                </c:pt>
                <c:pt idx="3">
                  <c:v>6.5000000000000002E-2</c:v>
                </c:pt>
                <c:pt idx="4">
                  <c:v>5.4100000000000002E-2</c:v>
                </c:pt>
                <c:pt idx="5">
                  <c:v>4.6699999999999998E-2</c:v>
                </c:pt>
                <c:pt idx="6">
                  <c:v>4.0500000000000001E-2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D56-461A-8F8F-DD45D7E2DF4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ν=0.4999</c:v>
                </c:pt>
              </c:strCache>
            </c:strRef>
          </c:tx>
          <c:spPr>
            <a:ln w="31750" cap="flat">
              <a:solidFill>
                <a:srgbClr val="B71C1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71C1C"/>
              </a:solidFill>
              <a:ln w="9525" cap="flat">
                <a:solidFill>
                  <a:srgbClr val="B71C1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L=1</c:v>
                </c:pt>
                <c:pt idx="1">
                  <c:v>L=2</c:v>
                </c:pt>
                <c:pt idx="2">
                  <c:v>L=4</c:v>
                </c:pt>
                <c:pt idx="3">
                  <c:v>L=8</c:v>
                </c:pt>
                <c:pt idx="4">
                  <c:v>L=12</c:v>
                </c:pt>
                <c:pt idx="5">
                  <c:v>L=16</c:v>
                </c:pt>
                <c:pt idx="6">
                  <c:v>L=20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0.75049999999999994</c:v>
                </c:pt>
                <c:pt idx="1">
                  <c:v>0.18809999999999999</c:v>
                </c:pt>
                <c:pt idx="2">
                  <c:v>4.7500000000000001E-2</c:v>
                </c:pt>
                <c:pt idx="3">
                  <c:v>1.23E-2</c:v>
                </c:pt>
                <c:pt idx="4">
                  <c:v>5.7999999999999996E-3</c:v>
                </c:pt>
                <c:pt idx="5">
                  <c:v>3.5000000000000001E-3</c:v>
                </c:pt>
                <c:pt idx="6">
                  <c:v>2.5000000000000001E-3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D56-461A-8F8F-DD45D7E2DF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L=2</c:v>
                </c:pt>
              </c:strCache>
            </c:strRef>
          </c:tx>
          <c:spPr>
            <a:ln w="31750" cap="flat">
              <a:solidFill>
                <a:srgbClr val="0D47A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47A1"/>
              </a:solidFill>
              <a:ln w="9525" cap="flat">
                <a:solidFill>
                  <a:srgbClr val="0D47A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ν=0.30</c:v>
                </c:pt>
                <c:pt idx="1">
                  <c:v>ν=0.40</c:v>
                </c:pt>
                <c:pt idx="2">
                  <c:v>ν=0.45</c:v>
                </c:pt>
                <c:pt idx="3">
                  <c:v>ν=0.49</c:v>
                </c:pt>
                <c:pt idx="4">
                  <c:v>ν=0.4999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0.84499999999999997</c:v>
                </c:pt>
                <c:pt idx="1">
                  <c:v>0.61599999999999999</c:v>
                </c:pt>
                <c:pt idx="2">
                  <c:v>0.435</c:v>
                </c:pt>
                <c:pt idx="3">
                  <c:v>0.24349999999999999</c:v>
                </c:pt>
                <c:pt idx="4">
                  <c:v>0.18809999999999999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55-4768-A08B-1C94D3253A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L=4</c:v>
                </c:pt>
              </c:strCache>
            </c:strRef>
          </c:tx>
          <c:spPr>
            <a:ln w="31750" cap="flat">
              <a:solidFill>
                <a:srgbClr val="1976D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976D2"/>
              </a:solidFill>
              <a:ln w="9525" cap="flat">
                <a:solidFill>
                  <a:srgbClr val="1976D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ν=0.30</c:v>
                </c:pt>
                <c:pt idx="1">
                  <c:v>ν=0.40</c:v>
                </c:pt>
                <c:pt idx="2">
                  <c:v>ν=0.45</c:v>
                </c:pt>
                <c:pt idx="3">
                  <c:v>ν=0.49</c:v>
                </c:pt>
                <c:pt idx="4">
                  <c:v>ν=0.4999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0.60940000000000005</c:v>
                </c:pt>
                <c:pt idx="1">
                  <c:v>0.4375</c:v>
                </c:pt>
                <c:pt idx="2">
                  <c:v>0.28320000000000001</c:v>
                </c:pt>
                <c:pt idx="3">
                  <c:v>0.10299999999999999</c:v>
                </c:pt>
                <c:pt idx="4">
                  <c:v>4.7500000000000001E-2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55-4768-A08B-1C94D3253A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L=8</c:v>
                </c:pt>
              </c:strCache>
            </c:strRef>
          </c:tx>
          <c:spPr>
            <a:ln w="31750" cap="flat">
              <a:solidFill>
                <a:srgbClr val="42A5F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2A5F5"/>
              </a:solidFill>
              <a:ln w="9525" cap="flat">
                <a:solidFill>
                  <a:srgbClr val="42A5F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ν=0.30</c:v>
                </c:pt>
                <c:pt idx="1">
                  <c:v>ν=0.40</c:v>
                </c:pt>
                <c:pt idx="2">
                  <c:v>ν=0.45</c:v>
                </c:pt>
                <c:pt idx="3">
                  <c:v>ν=0.49</c:v>
                </c:pt>
                <c:pt idx="4">
                  <c:v>ν=0.4999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0.35139999999999999</c:v>
                </c:pt>
                <c:pt idx="1">
                  <c:v>0.28660000000000002</c:v>
                </c:pt>
                <c:pt idx="2">
                  <c:v>0.2016</c:v>
                </c:pt>
                <c:pt idx="3">
                  <c:v>6.5000000000000002E-2</c:v>
                </c:pt>
                <c:pt idx="4">
                  <c:v>1.23E-2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555-4768-A08B-1C94D3253A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L=16</c:v>
                </c:pt>
              </c:strCache>
            </c:strRef>
          </c:tx>
          <c:spPr>
            <a:ln w="31750" cap="flat">
              <a:solidFill>
                <a:srgbClr val="90CAF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0CAF9"/>
              </a:solidFill>
              <a:ln w="9525" cap="flat">
                <a:solidFill>
                  <a:srgbClr val="90CAF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ν=0.30</c:v>
                </c:pt>
                <c:pt idx="1">
                  <c:v>ν=0.40</c:v>
                </c:pt>
                <c:pt idx="2">
                  <c:v>ν=0.45</c:v>
                </c:pt>
                <c:pt idx="3">
                  <c:v>ν=0.49</c:v>
                </c:pt>
                <c:pt idx="4">
                  <c:v>ν=0.4999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0.1338</c:v>
                </c:pt>
                <c:pt idx="1">
                  <c:v>0.128</c:v>
                </c:pt>
                <c:pt idx="2">
                  <c:v>0.1086</c:v>
                </c:pt>
                <c:pt idx="3">
                  <c:v>4.6699999999999998E-2</c:v>
                </c:pt>
                <c:pt idx="4">
                  <c:v>3.5000000000000001E-3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55-4768-A08B-1C94D3253A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5:56:18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2216 0 24575,'-20'18'0,"-1"-1"0,-1-1 0,-24 14 0,22-15 0,0 1 0,-35 31 0,16-14 0,-7 7 0,-130 156 0,162-178 0,0-1 0,-35 26 0,-12 10 0,-79 68 0,25-23 0,58-46 0,23-21 0,-61 65 0,79-75 0,-2 0 0,-42 30 0,36-29 0,-32 30 0,-143 160 0,27-28 0,32-39 0,73-79 0,51-49 0,1 0 0,-25 29 0,29-30 0,-1-1 0,-31 24 0,18-15 0,-8 6-54,15-13-383,2 0 0,-28 30 0,42-39-6389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5:56:20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24575,'2'0'0,"-1"0"0,0 1 0,1-1 0,-1 1 0,0-1 0,1 1 0,-1-1 0,0 1 0,0 0 0,0 0 0,0 0 0,0 0 0,0 0 0,0 0 0,0 0 0,0 0 0,0 0 0,0 0 0,0 0 0,0 3 0,16 33 0,-10-21 0,50 94 0,-48-95 0,-5-8 0,0 1 0,1-1 0,0 0 0,0 0 0,1 0 0,0-1 0,0 1 0,0-2 0,1 1 0,0-1 0,8 6 0,19 11 0,-1 1 0,49 46 0,-35-29 0,79 85 0,-68-64 0,16 1 0,-7-8 0,27 20 0,-26-21 0,-52-42 0,-1 0 0,0 1 0,-1 1 0,0 0 0,20 25 0,-22-24 0,0-1 0,0 0 0,19 15 0,9 8 0,-18-12 0,33 47 0,-28-33 0,-11-19 0,-1-1 0,36 30 0,-40-37 0,-1 1 0,-1 0 0,0 0 0,13 23 0,17 23 0,68 84 0,-68-102 0,59 48 0,55 49 0,-128-116 0,1 0 0,48 28 0,-62-42-115,-4-3-135,-1 1 0,0 0 0,0 0 0,12 12 0,-12-9-6576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5:56:22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6963 0 24575,'-22'2'0,"1"1"0,-42 10 0,34-6 0,10-3 0,-33 8 0,0-2 0,-1-2 0,-75 1 0,90-7 0,-42 6 0,15 0 0,-71 9 0,-15-1 0,16 1 0,49-1 0,63-10 0,1-2 0,-35 3 0,-489-5 0,270-4 0,127-16 0,-425 19 0,424 17 0,67-17 0,-87-4 0,109-4 0,29 2 0,-43 0 0,-76-11 0,-631 16 0,550-18 0,-1433 19 0,1466-18 0,104 19 0,-129-4 0,159-5 0,28 2 0,-46 0 0,16 5-1365,53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5:56:24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0 157 24575,'138'2'0,"146"-5"0,-219-4 0,-27 2 0,44 1 0,-74 4 0,32 2 0,1-3 0,-1-1 0,1-2 0,69-15 0,-91 15 0,1 0 0,-1 1 0,34 0 0,-33 3 0,0-1 0,0-1 0,34-9 0,-26 3 0,0 0 0,1 2 0,0 2 0,58-3 0,64-9 0,-115 15 0,0-1 0,48-8 0,-56 7 0,1 0 0,50 4 0,-54 0 0,0-1 0,0 0 0,0-2 0,28-6 0,-22 3 0,0 2 0,1 1 0,-1 1 0,56 6 0,-23 2 0,-25-2 0,43 0 0,52 12 0,17-1 0,-111-16 0,-15-1 0,1 1 0,-1 1 0,0 1 0,27 6 0,-30-4 0,1-1 0,0-1 0,0-1 0,29-2 0,-28 0 0,-1 0 0,1 2 0,-1 1 0,25 5 0,-34-4-1365,-2-1-5461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5:58:06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5526 1 24575,'-10'1'0,"0"1"0,-1-1 0,1 2 0,0 0 0,0 0 0,0 1 0,1 0 0,-1 0 0,1 1 0,0 0 0,0 1 0,1 0 0,-10 9 0,-52 30 0,49-32 0,0 1 0,1 0 0,1 2 0,1 0 0,-23 26 0,19-20 0,0-1 0,-45 33 0,-18 9 0,-32 20 0,89-68 0,-9 7 0,-1-2 0,-1-2 0,-56 18 0,-310 108 0,66-48 0,249-60 0,73-28 0,1-1 0,-1 0 0,0-1 0,0-1 0,-1-1 0,0 0 0,-35 2 0,9-3 0,0 2 0,-65 15 0,68-10 0,-1-2 0,-84 3 0,78-9 0,1 1 0,-68 14 0,36-8 0,0-4 0,-144-8 0,60-1 0,4 7 0,-173-7 0,233-10 0,58 8 0,-80-4 0,49 7 0,-1-3 0,-79-18 0,-13-2 0,59-3 0,8 1 0,-216-34 0,225 27 0,69 26 0,0 1 0,0 0 0,0 2 0,-23-5 0,11 5 0,1-1 0,-1-2 0,2-1 0,-1-2 0,1-1 0,1-1 0,0-2 0,-34-24 0,12 3-48,41 29-84,-1 0 1,1 0-1,-2 1 0,1 0 1,-1 1-1,0 0 0,0 1 0,-1 0 1,-16-4-1,7 6-6694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5:58:01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1418 1 24575,'-4'3'0,"0"-1"0,0 1 0,0 0 0,0 1 0,0-1 0,1 1 0,-1 0 0,1-1 0,0 1 0,-2 5 0,-22 22 0,14-20 0,1 2 0,0 0 0,1 0 0,0 1 0,1 0 0,1 1 0,-9 17 0,-33 47 0,-21 11 0,-144 199 0,155-203 0,-3-3 0,-81 79 0,100-113 0,-43 42 0,-24 33 0,59-68 0,-74 101 0,60-71 0,-17 26 0,56-77 75,-6 12-1515,28-28-5386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5:58:03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24575,'16'0'0,"1"2"0,-1 0 0,0 1 0,1 0 0,-1 1 0,-1 1 0,1 1 0,-1 0 0,0 1 0,0 1 0,-1 0 0,21 15 0,8 12 0,-1 1 0,52 59 0,-15-14 0,-67-67 0,-1-1 0,0 2 0,-1-1 0,14 27 0,-15-24 0,1-1 0,0 0 0,1 0 0,15 15 0,105 88 0,-85-81 0,-3 2 0,76 89 0,-91-89 0,-16-23 0,1 0 0,0 0 0,1-1 0,21 19 0,42 32 0,-40-32 0,1-3 0,2-1 0,59 36 0,150 84 0,-208-129-1365,-26-11-5461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5:58:14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1 141 24575,'18'0'0,"1"1"0,-1 1 0,1 1 0,-1 0 0,0 2 0,-1 0 0,1 1 0,25 12 0,3-1 0,1-3 0,1-1 0,0-3 0,97 8 0,14-4 0,87 1 0,30-36 0,-230 16 0,20-5 0,0-2 0,-1-4 0,65-25 0,-75 26 0,82-12 0,-94 21 0,-1-2 0,0-2 0,0-2 0,39-17 0,-58 21 0,1 1 0,0 1 0,0 1 0,1 1 0,28 0 0,21-5 0,12 1 58,35-8-1481,-101 11-5403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50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7.png"/><Relationship Id="rId18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customXml" Target="../ink/ink6.xml"/><Relationship Id="rId17" Type="http://schemas.openxmlformats.org/officeDocument/2006/relationships/image" Target="../media/image1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5.png"/><Relationship Id="rId1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Phenomena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shear locking &amp; volumetric locking</a:t>
            </a:r>
            <a:endParaRPr lang="en-US" sz="16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FDEF0A1F-0DF6-CE9C-90A1-DD63AD488A73}"/>
              </a:ext>
            </a:extLst>
          </p:cNvPr>
          <p:cNvSpPr/>
          <p:nvPr/>
        </p:nvSpPr>
        <p:spPr>
          <a:xfrm>
            <a:off x="808426" y="403123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(PowerPoint lay-out made with the help of AI.)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Locking?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ECEFF1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Locking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in bending-dominated problems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Low-order elements (Q1) cannot represent pure bending without spurious shear strains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behaves too stiffly — deflection is severely underestimated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Worsens as L/h increases (more slender beam)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3977640"/>
          </a:xfrm>
          <a:prstGeom prst="rect">
            <a:avLst/>
          </a:prstGeom>
          <a:solidFill>
            <a:srgbClr val="ECEFF1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8"/>
          <p:cNvSpPr/>
          <p:nvPr/>
        </p:nvSpPr>
        <p:spPr>
          <a:xfrm>
            <a:off x="4754880" y="868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Locking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in nearly-incompressible materials (ν → 0.5)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Incompressibility constraint (εᵥₒₗ ≈ 0) cannot be satisfied element-by-element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field becomes oscillatory (checkerboard pattern)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Worsens as Poisson's ratio approaches 0.5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8F0FE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cause: element formulation cannot represent the true deformation field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DK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Locking —Triangle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574645"/>
            <a:ext cx="2613372" cy="1824857"/>
          </a:xfrm>
          <a:prstGeom prst="rect">
            <a:avLst/>
          </a:prstGeom>
          <a:solidFill>
            <a:srgbClr val="EBF3F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 flipV="1">
            <a:off x="365760" y="2485109"/>
            <a:ext cx="2607853" cy="3936"/>
          </a:xfrm>
          <a:prstGeom prst="line">
            <a:avLst/>
          </a:prstGeom>
          <a:noFill/>
          <a:ln w="12700">
            <a:solidFill>
              <a:srgbClr val="1B4F8A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1234440" y="1574645"/>
            <a:ext cx="0" cy="1828800"/>
          </a:xfrm>
          <a:prstGeom prst="line">
            <a:avLst/>
          </a:prstGeom>
          <a:noFill/>
          <a:ln w="12700">
            <a:solidFill>
              <a:srgbClr val="1B4F8A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7" name="Shape 5"/>
          <p:cNvSpPr/>
          <p:nvPr/>
        </p:nvSpPr>
        <p:spPr>
          <a:xfrm>
            <a:off x="2103120" y="1574645"/>
            <a:ext cx="0" cy="1828800"/>
          </a:xfrm>
          <a:prstGeom prst="line">
            <a:avLst/>
          </a:prstGeom>
          <a:noFill/>
          <a:ln w="12700">
            <a:solidFill>
              <a:srgbClr val="1B4F8A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8" name="Shape 6"/>
          <p:cNvSpPr/>
          <p:nvPr/>
        </p:nvSpPr>
        <p:spPr>
          <a:xfrm>
            <a:off x="2971800" y="1574645"/>
            <a:ext cx="0" cy="1828800"/>
          </a:xfrm>
          <a:prstGeom prst="line">
            <a:avLst/>
          </a:prstGeom>
          <a:noFill/>
          <a:ln w="12700">
            <a:solidFill>
              <a:srgbClr val="1B4F8A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7"/>
          <p:cNvSpPr/>
          <p:nvPr/>
        </p:nvSpPr>
        <p:spPr>
          <a:xfrm>
            <a:off x="365760" y="2489045"/>
            <a:ext cx="868680" cy="0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1234440" y="2489045"/>
            <a:ext cx="868680" cy="0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9"/>
          <p:cNvSpPr/>
          <p:nvPr/>
        </p:nvSpPr>
        <p:spPr>
          <a:xfrm>
            <a:off x="2103120" y="2489045"/>
            <a:ext cx="868680" cy="0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1"/>
          <p:cNvSpPr/>
          <p:nvPr/>
        </p:nvSpPr>
        <p:spPr>
          <a:xfrm>
            <a:off x="365760" y="3403445"/>
            <a:ext cx="868680" cy="0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Shape 12"/>
          <p:cNvSpPr/>
          <p:nvPr/>
        </p:nvSpPr>
        <p:spPr>
          <a:xfrm>
            <a:off x="1234440" y="3403445"/>
            <a:ext cx="868680" cy="0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Shape 13"/>
          <p:cNvSpPr/>
          <p:nvPr/>
        </p:nvSpPr>
        <p:spPr>
          <a:xfrm>
            <a:off x="2103120" y="3403445"/>
            <a:ext cx="868680" cy="0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Shape 14"/>
          <p:cNvSpPr/>
          <p:nvPr/>
        </p:nvSpPr>
        <p:spPr>
          <a:xfrm flipH="1" flipV="1">
            <a:off x="2969981" y="3395571"/>
            <a:ext cx="1819" cy="7874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Shape 15"/>
          <p:cNvSpPr/>
          <p:nvPr/>
        </p:nvSpPr>
        <p:spPr>
          <a:xfrm>
            <a:off x="164592" y="1666085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Shape 16"/>
          <p:cNvSpPr/>
          <p:nvPr/>
        </p:nvSpPr>
        <p:spPr>
          <a:xfrm>
            <a:off x="164592" y="2013557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Shape 17"/>
          <p:cNvSpPr/>
          <p:nvPr/>
        </p:nvSpPr>
        <p:spPr>
          <a:xfrm>
            <a:off x="164592" y="2361029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Shape 18"/>
          <p:cNvSpPr/>
          <p:nvPr/>
        </p:nvSpPr>
        <p:spPr>
          <a:xfrm>
            <a:off x="164592" y="2708501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Shape 19"/>
          <p:cNvSpPr/>
          <p:nvPr/>
        </p:nvSpPr>
        <p:spPr>
          <a:xfrm>
            <a:off x="164592" y="3055973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Shape 20"/>
          <p:cNvSpPr/>
          <p:nvPr/>
        </p:nvSpPr>
        <p:spPr>
          <a:xfrm>
            <a:off x="365760" y="1574645"/>
            <a:ext cx="0" cy="1828800"/>
          </a:xfrm>
          <a:prstGeom prst="line">
            <a:avLst/>
          </a:prstGeom>
          <a:noFill/>
          <a:ln w="317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Shape 21"/>
          <p:cNvSpPr/>
          <p:nvPr/>
        </p:nvSpPr>
        <p:spPr>
          <a:xfrm>
            <a:off x="457200" y="3403445"/>
            <a:ext cx="0" cy="18288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Shape 22"/>
          <p:cNvSpPr/>
          <p:nvPr/>
        </p:nvSpPr>
        <p:spPr>
          <a:xfrm>
            <a:off x="886968" y="3403445"/>
            <a:ext cx="0" cy="18288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5" name="Shape 23"/>
          <p:cNvSpPr/>
          <p:nvPr/>
        </p:nvSpPr>
        <p:spPr>
          <a:xfrm>
            <a:off x="1316736" y="3403445"/>
            <a:ext cx="0" cy="18288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Shape 24"/>
          <p:cNvSpPr/>
          <p:nvPr/>
        </p:nvSpPr>
        <p:spPr>
          <a:xfrm>
            <a:off x="1746504" y="3403445"/>
            <a:ext cx="0" cy="18288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7" name="Shape 25"/>
          <p:cNvSpPr/>
          <p:nvPr/>
        </p:nvSpPr>
        <p:spPr>
          <a:xfrm>
            <a:off x="2176272" y="3403445"/>
            <a:ext cx="0" cy="18288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8" name="Shape 26"/>
          <p:cNvSpPr/>
          <p:nvPr/>
        </p:nvSpPr>
        <p:spPr>
          <a:xfrm>
            <a:off x="2606040" y="3403445"/>
            <a:ext cx="0" cy="18288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1" name="Shape 29"/>
          <p:cNvSpPr/>
          <p:nvPr/>
        </p:nvSpPr>
        <p:spPr>
          <a:xfrm flipV="1">
            <a:off x="365760" y="3403436"/>
            <a:ext cx="2613372" cy="9"/>
          </a:xfrm>
          <a:prstGeom prst="line">
            <a:avLst/>
          </a:prstGeom>
          <a:noFill/>
          <a:ln w="317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2" name="Shape 30"/>
          <p:cNvSpPr/>
          <p:nvPr/>
        </p:nvSpPr>
        <p:spPr>
          <a:xfrm>
            <a:off x="548640" y="1391765"/>
            <a:ext cx="0" cy="18288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3" name="Shape 31"/>
          <p:cNvSpPr/>
          <p:nvPr/>
        </p:nvSpPr>
        <p:spPr>
          <a:xfrm>
            <a:off x="1261872" y="1300325"/>
            <a:ext cx="0" cy="27432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4" name="Shape 32"/>
          <p:cNvSpPr/>
          <p:nvPr/>
        </p:nvSpPr>
        <p:spPr>
          <a:xfrm>
            <a:off x="1975104" y="1208885"/>
            <a:ext cx="0" cy="36576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5" name="Shape 33"/>
          <p:cNvSpPr/>
          <p:nvPr/>
        </p:nvSpPr>
        <p:spPr>
          <a:xfrm>
            <a:off x="2688336" y="1117445"/>
            <a:ext cx="0" cy="45720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7" name="Text 35"/>
          <p:cNvSpPr/>
          <p:nvPr/>
        </p:nvSpPr>
        <p:spPr>
          <a:xfrm>
            <a:off x="374905" y="765871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t(x) = 20000·x₁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-155451" y="3543935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90669" y="2192865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-195539" y="377241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4×3 T3 mesh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triangles)</a:t>
            </a:r>
            <a:endParaRPr lang="en-US" sz="11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823612"/>
              </p:ext>
            </p:extLst>
          </p:nvPr>
        </p:nvGraphicFramePr>
        <p:xfrm>
          <a:off x="4297680" y="804672"/>
          <a:ext cx="461772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Linear Triangle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4×2 elements (12 triangles)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× 1.0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Young's modulus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200 000 MPa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Poisson's 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→ 0.49999999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left + bottom; traction 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t(x) = 20 000·x₁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5" name="Shape 7"/>
          <p:cNvSpPr/>
          <p:nvPr/>
        </p:nvSpPr>
        <p:spPr>
          <a:xfrm flipV="1">
            <a:off x="374905" y="2489045"/>
            <a:ext cx="859535" cy="914398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0DEA20E3-2596-12F8-800D-A593DBDA05E7}"/>
              </a:ext>
            </a:extLst>
          </p:cNvPr>
          <p:cNvSpPr/>
          <p:nvPr/>
        </p:nvSpPr>
        <p:spPr>
          <a:xfrm flipV="1">
            <a:off x="365762" y="1578583"/>
            <a:ext cx="859535" cy="914398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5D003088-39E5-5DEC-95B1-0AEDFCA9B645}"/>
              </a:ext>
            </a:extLst>
          </p:cNvPr>
          <p:cNvSpPr/>
          <p:nvPr/>
        </p:nvSpPr>
        <p:spPr>
          <a:xfrm flipV="1">
            <a:off x="1252727" y="1570711"/>
            <a:ext cx="859535" cy="914398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07877E84-F953-2383-E763-6FB3F24A85D5}"/>
              </a:ext>
            </a:extLst>
          </p:cNvPr>
          <p:cNvSpPr/>
          <p:nvPr/>
        </p:nvSpPr>
        <p:spPr>
          <a:xfrm flipV="1">
            <a:off x="1236257" y="2508273"/>
            <a:ext cx="859535" cy="914398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F732CE1E-84C0-B3FE-797D-CC51E7DF489A}"/>
              </a:ext>
            </a:extLst>
          </p:cNvPr>
          <p:cNvSpPr/>
          <p:nvPr/>
        </p:nvSpPr>
        <p:spPr>
          <a:xfrm flipV="1">
            <a:off x="2114078" y="1593875"/>
            <a:ext cx="859535" cy="914398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F383EEE0-A167-0336-2AF7-80F3538592AD}"/>
              </a:ext>
            </a:extLst>
          </p:cNvPr>
          <p:cNvSpPr/>
          <p:nvPr/>
        </p:nvSpPr>
        <p:spPr>
          <a:xfrm flipV="1">
            <a:off x="2103119" y="2496871"/>
            <a:ext cx="859535" cy="914398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DF9028-3BF3-16ED-B805-F162897E75A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DK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4B676C-D58C-5D5E-1844-1B33206F77E3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Locking - Background </a:t>
            </a:r>
            <a:endParaRPr 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58AE9C65-BA9A-1116-84B0-00B2621A657F}"/>
                  </a:ext>
                </a:extLst>
              </p:cNvPr>
              <p:cNvSpPr txBox="1"/>
              <p:nvPr/>
            </p:nvSpPr>
            <p:spPr>
              <a:xfrm>
                <a:off x="3694866" y="915639"/>
                <a:ext cx="1754263" cy="567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3∗(1−</m:t>
                          </m:r>
                          <m:r>
                            <m:rPr>
                              <m:nor/>
                            </m:rPr>
                            <a:rPr lang="en-DK"/>
                            <m:t>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DK" i="1" smtClean="0">
                              <a:latin typeface="Cambria Math" panose="02040503050406030204" pitchFamily="18" charset="0"/>
                            </a:rPr>
                            <m:t>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DK" dirty="0"/>
              </a:p>
            </p:txBody>
          </p:sp>
        </mc:Choice>
        <mc:Fallback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58AE9C65-BA9A-1116-84B0-00B2621A6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4866" y="915639"/>
                <a:ext cx="1754263" cy="567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21183107-2096-B754-983E-EB217B8A13AD}"/>
                  </a:ext>
                </a:extLst>
              </p:cNvPr>
              <p:cNvSpPr txBox="1"/>
              <p:nvPr/>
            </p:nvSpPr>
            <p:spPr>
              <a:xfrm>
                <a:off x="3850905" y="2315897"/>
                <a:ext cx="1442190" cy="310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en-DK"/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DK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𝑑𝑖𝑙</m:t>
                          </m:r>
                        </m:sub>
                      </m:sSub>
                    </m:oMath>
                  </m:oMathPara>
                </a14:m>
                <a:endParaRPr lang="en-DK" dirty="0"/>
              </a:p>
            </p:txBody>
          </p:sp>
        </mc:Choice>
        <mc:Fallback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21183107-2096-B754-983E-EB217B8A1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905" y="2315897"/>
                <a:ext cx="1442190" cy="310791"/>
              </a:xfrm>
              <a:prstGeom prst="rect">
                <a:avLst/>
              </a:prstGeom>
              <a:blipFill>
                <a:blip r:embed="rId3"/>
                <a:stretch>
                  <a:fillRect l="-847" r="-424" b="-1176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Billede 7">
            <a:extLst>
              <a:ext uri="{FF2B5EF4-FFF2-40B4-BE49-F238E27FC236}">
                <a16:creationId xmlns:a16="http://schemas.microsoft.com/office/drawing/2014/main" id="{A8433194-45EF-69D0-9E49-1ADF5D4A5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449" y="2836301"/>
            <a:ext cx="5379102" cy="396952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9DA038C4-A3EC-A452-9DC0-F6C164A49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0996" y="3342839"/>
            <a:ext cx="3982006" cy="2000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38F6633E-502F-550E-9752-AB404DD4C628}"/>
                  </a:ext>
                </a:extLst>
              </p:cNvPr>
              <p:cNvSpPr txBox="1"/>
              <p:nvPr/>
            </p:nvSpPr>
            <p:spPr>
              <a:xfrm>
                <a:off x="4177788" y="3979786"/>
                <a:ext cx="7884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DK" dirty="0"/>
              </a:p>
            </p:txBody>
          </p:sp>
        </mc:Choice>
        <mc:Fallback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38F6633E-502F-550E-9752-AB404DD4C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788" y="3979786"/>
                <a:ext cx="788421" cy="276999"/>
              </a:xfrm>
              <a:prstGeom prst="rect">
                <a:avLst/>
              </a:prstGeom>
              <a:blipFill>
                <a:blip r:embed="rId6"/>
                <a:stretch>
                  <a:fillRect l="-6154" t="-2222" r="-9231" b="-35556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8D9BE587-1EA5-2BCD-C530-CD8CCB529EF9}"/>
                  </a:ext>
                </a:extLst>
              </p:cNvPr>
              <p:cNvSpPr txBox="1"/>
              <p:nvPr/>
            </p:nvSpPr>
            <p:spPr>
              <a:xfrm>
                <a:off x="3545980" y="1771074"/>
                <a:ext cx="21802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DK" i="1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𝑑𝑖𝑙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DK" i="1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DK" i="1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DK" i="1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en-DK" dirty="0"/>
              </a:p>
            </p:txBody>
          </p:sp>
        </mc:Choice>
        <mc:Fallback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8D9BE587-1EA5-2BCD-C530-CD8CCB529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980" y="1771074"/>
                <a:ext cx="2180277" cy="276999"/>
              </a:xfrm>
              <a:prstGeom prst="rect">
                <a:avLst/>
              </a:prstGeom>
              <a:blipFill>
                <a:blip r:embed="rId7"/>
                <a:stretch>
                  <a:fillRect l="-1120" r="-560" b="-15556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091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skærmbillede, Farverigt, linje/række, Grafik&#10;&#10;AI-genereret indhold kan være ukorrekt.">
            <a:extLst>
              <a:ext uri="{FF2B5EF4-FFF2-40B4-BE49-F238E27FC236}">
                <a16:creationId xmlns:a16="http://schemas.microsoft.com/office/drawing/2014/main" id="{4ACA707F-7388-930C-A7B7-A1E3D3F9D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7" y="517685"/>
            <a:ext cx="3679183" cy="2054065"/>
          </a:xfrm>
          <a:prstGeom prst="rect">
            <a:avLst/>
          </a:prstGeom>
        </p:spPr>
      </p:pic>
      <p:pic>
        <p:nvPicPr>
          <p:cNvPr id="5" name="Billede 4" descr="Et billede, der indeholder skærmbillede, Farverigt, tekst, Grafik&#10;&#10;AI-genereret indhold kan være ukorrekt.">
            <a:extLst>
              <a:ext uri="{FF2B5EF4-FFF2-40B4-BE49-F238E27FC236}">
                <a16:creationId xmlns:a16="http://schemas.microsoft.com/office/drawing/2014/main" id="{9E666AFB-7A14-0411-8344-5E1F5E25E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252" y="517684"/>
            <a:ext cx="3679183" cy="2048075"/>
          </a:xfrm>
          <a:prstGeom prst="rect">
            <a:avLst/>
          </a:prstGeom>
        </p:spPr>
      </p:pic>
      <p:pic>
        <p:nvPicPr>
          <p:cNvPr id="7" name="Billede 6" descr="Et billede, der indeholder skærmbillede, Farverigt, linje/række, Grafik&#10;&#10;AI-genereret indhold kan være ukorrekt.">
            <a:extLst>
              <a:ext uri="{FF2B5EF4-FFF2-40B4-BE49-F238E27FC236}">
                <a16:creationId xmlns:a16="http://schemas.microsoft.com/office/drawing/2014/main" id="{9E42FC1C-EAF5-1340-AB88-5263B142F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73" y="2843632"/>
            <a:ext cx="3766869" cy="2048076"/>
          </a:xfrm>
          <a:prstGeom prst="rect">
            <a:avLst/>
          </a:prstGeom>
        </p:spPr>
      </p:pic>
      <p:pic>
        <p:nvPicPr>
          <p:cNvPr id="9" name="Billede 8" descr="Et billede, der indeholder skærmbillede, Farverigt, linje/række, design&#10;&#10;AI-genereret indhold kan være ukorrekt.">
            <a:extLst>
              <a:ext uri="{FF2B5EF4-FFF2-40B4-BE49-F238E27FC236}">
                <a16:creationId xmlns:a16="http://schemas.microsoft.com/office/drawing/2014/main" id="{BD9B2BFC-52B9-A2FE-6D9E-722933B22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252" y="2843632"/>
            <a:ext cx="3679183" cy="19829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68C53A42-3332-A137-183D-DEEF4D70B5D3}"/>
                  </a:ext>
                </a:extLst>
              </p:cNvPr>
              <p:cNvSpPr txBox="1"/>
              <p:nvPr/>
            </p:nvSpPr>
            <p:spPr>
              <a:xfrm>
                <a:off x="892815" y="114560"/>
                <a:ext cx="3679183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DK" smtClean="0"/>
                        <m:t> </m:t>
                      </m:r>
                      <m:r>
                        <m:rPr>
                          <m:sty m:val="p"/>
                        </m:rPr>
                        <a:rPr lang="en-DK" i="1" smtClean="0">
                          <a:latin typeface="Cambria Math" panose="02040503050406030204" pitchFamily="18" charset="0"/>
                        </a:rPr>
                        <m:t>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DK" dirty="0"/>
              </a:p>
            </p:txBody>
          </p:sp>
        </mc:Choice>
        <mc:Fallback xmlns="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68C53A42-3332-A137-183D-DEEF4D70B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15" y="114560"/>
                <a:ext cx="3679183" cy="4031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BA4DA360-4E7D-FEF1-A83E-E6AE0B197BA8}"/>
                  </a:ext>
                </a:extLst>
              </p:cNvPr>
              <p:cNvSpPr txBox="1"/>
              <p:nvPr/>
            </p:nvSpPr>
            <p:spPr>
              <a:xfrm>
                <a:off x="4833444" y="114561"/>
                <a:ext cx="3679183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DK" smtClean="0"/>
                        <m:t> </m:t>
                      </m:r>
                      <m:r>
                        <m:rPr>
                          <m:sty m:val="p"/>
                        </m:rPr>
                        <a:rPr lang="en-DK" i="1" smtClean="0">
                          <a:latin typeface="Cambria Math" panose="02040503050406030204" pitchFamily="18" charset="0"/>
                        </a:rPr>
                        <m:t>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=0.4999</m:t>
                      </m:r>
                    </m:oMath>
                  </m:oMathPara>
                </a14:m>
                <a:endParaRPr lang="en-DK" dirty="0"/>
              </a:p>
            </p:txBody>
          </p:sp>
        </mc:Choice>
        <mc:Fallback xmlns="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BA4DA360-4E7D-FEF1-A83E-E6AE0B197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444" y="114561"/>
                <a:ext cx="3679183" cy="4031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kstfelt 13">
            <a:extLst>
              <a:ext uri="{FF2B5EF4-FFF2-40B4-BE49-F238E27FC236}">
                <a16:creationId xmlns:a16="http://schemas.microsoft.com/office/drawing/2014/main" id="{24D3F71E-8C3D-5B40-5A9D-A3AE2D4B2C84}"/>
              </a:ext>
            </a:extLst>
          </p:cNvPr>
          <p:cNvSpPr txBox="1"/>
          <p:nvPr/>
        </p:nvSpPr>
        <p:spPr>
          <a:xfrm>
            <a:off x="398417" y="620486"/>
            <a:ext cx="461665" cy="186798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/>
              <a:t>Pressure</a:t>
            </a:r>
            <a:endParaRPr lang="en-DK" dirty="0"/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FEC91343-3482-6576-60AB-9BE4A1D3C22A}"/>
              </a:ext>
            </a:extLst>
          </p:cNvPr>
          <p:cNvSpPr txBox="1"/>
          <p:nvPr/>
        </p:nvSpPr>
        <p:spPr>
          <a:xfrm>
            <a:off x="431152" y="2760356"/>
            <a:ext cx="461665" cy="186798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/>
              <a:t>Volumetric Strain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050079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Locking — Max Displacement vs 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0" cy="320040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457200" y="4069080"/>
            <a:ext cx="535838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9144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45720" y="731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9144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45720" y="1371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9144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45720" y="20116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9144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1"/>
          <p:cNvSpPr/>
          <p:nvPr/>
        </p:nvSpPr>
        <p:spPr>
          <a:xfrm>
            <a:off x="45720" y="26517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9144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3"/>
          <p:cNvSpPr/>
          <p:nvPr/>
        </p:nvSpPr>
        <p:spPr>
          <a:xfrm>
            <a:off x="45720" y="3291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9144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45720" y="39319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 rot="16200000">
            <a:off x="0" y="201168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log₁₀(δ)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868680"/>
            <a:ext cx="502920" cy="1216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Text 18"/>
          <p:cNvSpPr/>
          <p:nvPr/>
        </p:nvSpPr>
        <p:spPr>
          <a:xfrm>
            <a:off x="594360" y="765033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 rot="1800000">
            <a:off x="548640" y="414223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52728" y="868680"/>
            <a:ext cx="502920" cy="921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Text 21"/>
          <p:cNvSpPr/>
          <p:nvPr/>
        </p:nvSpPr>
        <p:spPr>
          <a:xfrm>
            <a:off x="1252728" y="80503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 rot="1800000">
            <a:off x="1207008" y="414223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11096" y="868680"/>
            <a:ext cx="502920" cy="19458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Text 24"/>
          <p:cNvSpPr/>
          <p:nvPr/>
        </p:nvSpPr>
        <p:spPr>
          <a:xfrm>
            <a:off x="1911096" y="85624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 rot="1800000">
            <a:off x="1865376" y="414223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9464" y="868680"/>
            <a:ext cx="502920" cy="454457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9" name="Text 27"/>
          <p:cNvSpPr/>
          <p:nvPr/>
        </p:nvSpPr>
        <p:spPr>
          <a:xfrm>
            <a:off x="2569464" y="98618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 rot="1800000">
            <a:off x="2523744" y="414223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27832" y="868680"/>
            <a:ext cx="502920" cy="97932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2" name="Text 30"/>
          <p:cNvSpPr/>
          <p:nvPr/>
        </p:nvSpPr>
        <p:spPr>
          <a:xfrm>
            <a:off x="3227832" y="1248613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 rot="1800000">
            <a:off x="3182112" y="414223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86200" y="868680"/>
            <a:ext cx="502920" cy="1603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5" name="Text 33"/>
          <p:cNvSpPr/>
          <p:nvPr/>
        </p:nvSpPr>
        <p:spPr>
          <a:xfrm>
            <a:off x="3886200" y="15606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 rot="1800000">
            <a:off x="3840480" y="414223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0.4999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44568" y="868680"/>
            <a:ext cx="502920" cy="224092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8" name="Text 36"/>
          <p:cNvSpPr/>
          <p:nvPr/>
        </p:nvSpPr>
        <p:spPr>
          <a:xfrm>
            <a:off x="4544568" y="187941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 rot="1800000">
            <a:off x="4498848" y="414223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0.49999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02936" y="868680"/>
            <a:ext cx="502920" cy="288164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1" name="Text 39"/>
          <p:cNvSpPr/>
          <p:nvPr/>
        </p:nvSpPr>
        <p:spPr>
          <a:xfrm>
            <a:off x="5202936" y="219977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 rot="1800000">
            <a:off x="5153754" y="4155150"/>
            <a:ext cx="6460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0.499999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804672"/>
            <a:ext cx="2788920" cy="4224528"/>
          </a:xfrm>
          <a:prstGeom prst="rect">
            <a:avLst/>
          </a:prstGeom>
          <a:solidFill>
            <a:srgbClr val="ECEFF1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44" name="Text 42"/>
          <p:cNvSpPr/>
          <p:nvPr/>
        </p:nvSpPr>
        <p:spPr>
          <a:xfrm>
            <a:off x="6126480" y="80467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Results</a:t>
            </a:r>
            <a:endParaRPr lang="en-US" sz="13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636934"/>
              </p:ext>
            </p:extLst>
          </p:nvPr>
        </p:nvGraphicFramePr>
        <p:xfrm>
          <a:off x="6134671" y="1160077"/>
          <a:ext cx="2752344" cy="32095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δ (mm)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9.57 × 10⁻²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7.18 × 10⁻²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4.97 × 10⁻²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 × 10⁻²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2.95 × 10⁻³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3.13 × 10⁻⁴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 × 10⁻⁵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 × 10⁻⁶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6" name="Shape 43"/>
          <p:cNvSpPr/>
          <p:nvPr/>
        </p:nvSpPr>
        <p:spPr>
          <a:xfrm>
            <a:off x="6126480" y="4443984"/>
            <a:ext cx="2788920" cy="566928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8" name="Text 45"/>
          <p:cNvSpPr/>
          <p:nvPr/>
        </p:nvSpPr>
        <p:spPr>
          <a:xfrm>
            <a:off x="393192" y="454049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Poisson ratio ν.  Y-axis: log₁₀(max displacement). 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Setup: Cantilever Beam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86968"/>
            <a:ext cx="201168" cy="164592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228600" y="978408"/>
            <a:ext cx="18288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8288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Shape 5"/>
          <p:cNvSpPr/>
          <p:nvPr/>
        </p:nvSpPr>
        <p:spPr>
          <a:xfrm>
            <a:off x="228600" y="1490472"/>
            <a:ext cx="18288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Shape 6"/>
          <p:cNvSpPr/>
          <p:nvPr/>
        </p:nvSpPr>
        <p:spPr>
          <a:xfrm>
            <a:off x="228600" y="1746504"/>
            <a:ext cx="18288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7"/>
          <p:cNvSpPr/>
          <p:nvPr/>
        </p:nvSpPr>
        <p:spPr>
          <a:xfrm>
            <a:off x="228600" y="2002536"/>
            <a:ext cx="18288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228600" y="2258568"/>
            <a:ext cx="18288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9"/>
          <p:cNvSpPr/>
          <p:nvPr/>
        </p:nvSpPr>
        <p:spPr>
          <a:xfrm>
            <a:off x="566928" y="1024128"/>
            <a:ext cx="5303520" cy="1371600"/>
          </a:xfrm>
          <a:prstGeom prst="rect">
            <a:avLst/>
          </a:prstGeom>
          <a:solidFill>
            <a:srgbClr val="BBDEFB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566928" y="1024128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 (L × h = L × 1)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70448" y="1024128"/>
            <a:ext cx="0" cy="91440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5943600" y="106984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1000 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(tip load)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624328"/>
            <a:ext cx="530352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566928" y="2697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(varies: 1, 2, 4, 8, 12, 16, 20 mm)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45422"/>
              </p:ext>
            </p:extLst>
          </p:nvPr>
        </p:nvGraphicFramePr>
        <p:xfrm>
          <a:off x="150483" y="3088075"/>
          <a:ext cx="8503920" cy="19202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0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Quadrilateral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0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1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Young's modulus 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200 000 MPa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Poisson's 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/ 0.4 / 0.45 / 0.49 / 0.4999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0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fixed left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667BD6-BD33-6264-9DD4-7E9CB94E8C9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97B2E6-FD40-5137-DB9B-AA0E73D934FE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Locking — Background</a:t>
            </a:r>
            <a:endParaRPr lang="en-US" sz="2200" dirty="0"/>
          </a:p>
        </p:txBody>
      </p:sp>
      <p:grpSp>
        <p:nvGrpSpPr>
          <p:cNvPr id="16" name="Gruppe 15">
            <a:extLst>
              <a:ext uri="{FF2B5EF4-FFF2-40B4-BE49-F238E27FC236}">
                <a16:creationId xmlns:a16="http://schemas.microsoft.com/office/drawing/2014/main" id="{69110071-9019-A810-F54F-FE5645AA948A}"/>
              </a:ext>
            </a:extLst>
          </p:cNvPr>
          <p:cNvGrpSpPr/>
          <p:nvPr/>
        </p:nvGrpSpPr>
        <p:grpSpPr>
          <a:xfrm>
            <a:off x="1703022" y="1066836"/>
            <a:ext cx="2553480" cy="844920"/>
            <a:chOff x="690792" y="1499786"/>
            <a:chExt cx="2553480" cy="84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Håndskrift 10">
                  <a:extLst>
                    <a:ext uri="{FF2B5EF4-FFF2-40B4-BE49-F238E27FC236}">
                      <a16:creationId xmlns:a16="http://schemas.microsoft.com/office/drawing/2014/main" id="{84E1ECAC-F5A7-4A52-375A-DE3E7FB26EA5}"/>
                    </a:ext>
                  </a:extLst>
                </p14:cNvPr>
                <p14:cNvContentPartPr/>
                <p14:nvPr/>
              </p14:nvContentPartPr>
              <p14:xfrm>
                <a:off x="728232" y="1550186"/>
                <a:ext cx="797760" cy="729000"/>
              </p14:xfrm>
            </p:contentPart>
          </mc:Choice>
          <mc:Fallback xmlns="">
            <p:pic>
              <p:nvPicPr>
                <p:cNvPr id="11" name="Håndskrift 10">
                  <a:extLst>
                    <a:ext uri="{FF2B5EF4-FFF2-40B4-BE49-F238E27FC236}">
                      <a16:creationId xmlns:a16="http://schemas.microsoft.com/office/drawing/2014/main" id="{84E1ECAC-F5A7-4A52-375A-DE3E7FB26EA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2112" y="1544066"/>
                  <a:ext cx="810000" cy="74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Håndskrift 11">
                  <a:extLst>
                    <a:ext uri="{FF2B5EF4-FFF2-40B4-BE49-F238E27FC236}">
                      <a16:creationId xmlns:a16="http://schemas.microsoft.com/office/drawing/2014/main" id="{039DCBFD-8C1A-2947-DC33-CB8C32EC4E44}"/>
                    </a:ext>
                  </a:extLst>
                </p14:cNvPr>
                <p14:cNvContentPartPr/>
                <p14:nvPr/>
              </p14:nvContentPartPr>
              <p14:xfrm>
                <a:off x="2537232" y="1568186"/>
                <a:ext cx="707040" cy="710280"/>
              </p14:xfrm>
            </p:contentPart>
          </mc:Choice>
          <mc:Fallback xmlns="">
            <p:pic>
              <p:nvPicPr>
                <p:cNvPr id="12" name="Håndskrift 11">
                  <a:extLst>
                    <a:ext uri="{FF2B5EF4-FFF2-40B4-BE49-F238E27FC236}">
                      <a16:creationId xmlns:a16="http://schemas.microsoft.com/office/drawing/2014/main" id="{039DCBFD-8C1A-2947-DC33-CB8C32EC4E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31112" y="1562066"/>
                  <a:ext cx="71928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Håndskrift 12">
                  <a:extLst>
                    <a:ext uri="{FF2B5EF4-FFF2-40B4-BE49-F238E27FC236}">
                      <a16:creationId xmlns:a16="http://schemas.microsoft.com/office/drawing/2014/main" id="{DB7D0B43-1F66-64A7-8226-E38EC74CA50E}"/>
                    </a:ext>
                  </a:extLst>
                </p14:cNvPr>
                <p14:cNvContentPartPr/>
                <p14:nvPr/>
              </p14:nvContentPartPr>
              <p14:xfrm>
                <a:off x="690792" y="2282786"/>
                <a:ext cx="2506680" cy="61920"/>
              </p14:xfrm>
            </p:contentPart>
          </mc:Choice>
          <mc:Fallback xmlns="">
            <p:pic>
              <p:nvPicPr>
                <p:cNvPr id="13" name="Håndskrift 12">
                  <a:extLst>
                    <a:ext uri="{FF2B5EF4-FFF2-40B4-BE49-F238E27FC236}">
                      <a16:creationId xmlns:a16="http://schemas.microsoft.com/office/drawing/2014/main" id="{DB7D0B43-1F66-64A7-8226-E38EC74CA5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4672" y="2276666"/>
                  <a:ext cx="2518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Håndskrift 14">
                  <a:extLst>
                    <a:ext uri="{FF2B5EF4-FFF2-40B4-BE49-F238E27FC236}">
                      <a16:creationId xmlns:a16="http://schemas.microsoft.com/office/drawing/2014/main" id="{5AD1B6D4-9716-3C1B-EB81-E5EF4E2F75E7}"/>
                    </a:ext>
                  </a:extLst>
                </p14:cNvPr>
                <p14:cNvContentPartPr/>
                <p14:nvPr/>
              </p14:nvContentPartPr>
              <p14:xfrm>
                <a:off x="1519872" y="1499786"/>
                <a:ext cx="1114560" cy="57240"/>
              </p14:xfrm>
            </p:contentPart>
          </mc:Choice>
          <mc:Fallback xmlns="">
            <p:pic>
              <p:nvPicPr>
                <p:cNvPr id="15" name="Håndskrift 14">
                  <a:extLst>
                    <a:ext uri="{FF2B5EF4-FFF2-40B4-BE49-F238E27FC236}">
                      <a16:creationId xmlns:a16="http://schemas.microsoft.com/office/drawing/2014/main" id="{5AD1B6D4-9716-3C1B-EB81-E5EF4E2F75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3752" y="1493666"/>
                  <a:ext cx="1126800" cy="6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Håndskrift 34">
                <a:extLst>
                  <a:ext uri="{FF2B5EF4-FFF2-40B4-BE49-F238E27FC236}">
                    <a16:creationId xmlns:a16="http://schemas.microsoft.com/office/drawing/2014/main" id="{9716024F-698A-EAB2-989F-9EFF366454A0}"/>
                  </a:ext>
                </a:extLst>
              </p14:cNvPr>
              <p14:cNvContentPartPr/>
              <p14:nvPr/>
            </p14:nvContentPartPr>
            <p14:xfrm>
              <a:off x="5032840" y="1529918"/>
              <a:ext cx="1989873" cy="358078"/>
            </p14:xfrm>
          </p:contentPart>
        </mc:Choice>
        <mc:Fallback xmlns="">
          <p:pic>
            <p:nvPicPr>
              <p:cNvPr id="35" name="Håndskrift 34">
                <a:extLst>
                  <a:ext uri="{FF2B5EF4-FFF2-40B4-BE49-F238E27FC236}">
                    <a16:creationId xmlns:a16="http://schemas.microsoft.com/office/drawing/2014/main" id="{9716024F-698A-EAB2-989F-9EFF366454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23839" y="1520903"/>
                <a:ext cx="2007514" cy="375748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uppe 39">
            <a:extLst>
              <a:ext uri="{FF2B5EF4-FFF2-40B4-BE49-F238E27FC236}">
                <a16:creationId xmlns:a16="http://schemas.microsoft.com/office/drawing/2014/main" id="{6B1FD2CC-F886-A19D-4CA0-438077E7DAAF}"/>
              </a:ext>
            </a:extLst>
          </p:cNvPr>
          <p:cNvGrpSpPr/>
          <p:nvPr/>
        </p:nvGrpSpPr>
        <p:grpSpPr>
          <a:xfrm>
            <a:off x="5017645" y="1066836"/>
            <a:ext cx="1996068" cy="685800"/>
            <a:chOff x="5159472" y="1375586"/>
            <a:chExt cx="115992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3" name="Håndskrift 32">
                  <a:extLst>
                    <a:ext uri="{FF2B5EF4-FFF2-40B4-BE49-F238E27FC236}">
                      <a16:creationId xmlns:a16="http://schemas.microsoft.com/office/drawing/2014/main" id="{1071953B-9C4D-35E4-0D54-A2717B811E51}"/>
                    </a:ext>
                  </a:extLst>
                </p14:cNvPr>
                <p14:cNvContentPartPr/>
                <p14:nvPr/>
              </p14:nvContentPartPr>
              <p14:xfrm>
                <a:off x="5159472" y="1404746"/>
                <a:ext cx="297000" cy="369360"/>
              </p14:xfrm>
            </p:contentPart>
          </mc:Choice>
          <mc:Fallback xmlns="">
            <p:pic>
              <p:nvPicPr>
                <p:cNvPr id="33" name="Håndskrift 32">
                  <a:extLst>
                    <a:ext uri="{FF2B5EF4-FFF2-40B4-BE49-F238E27FC236}">
                      <a16:creationId xmlns:a16="http://schemas.microsoft.com/office/drawing/2014/main" id="{1071953B-9C4D-35E4-0D54-A2717B811E5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54239" y="1399511"/>
                  <a:ext cx="307256" cy="379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4" name="Håndskrift 33">
                  <a:extLst>
                    <a:ext uri="{FF2B5EF4-FFF2-40B4-BE49-F238E27FC236}">
                      <a16:creationId xmlns:a16="http://schemas.microsoft.com/office/drawing/2014/main" id="{586923E4-5E05-8003-4FD1-875497C6619D}"/>
                    </a:ext>
                  </a:extLst>
                </p14:cNvPr>
                <p14:cNvContentPartPr/>
                <p14:nvPr/>
              </p14:nvContentPartPr>
              <p14:xfrm>
                <a:off x="5970552" y="1398626"/>
                <a:ext cx="348840" cy="293400"/>
              </p14:xfrm>
            </p:contentPart>
          </mc:Choice>
          <mc:Fallback xmlns="">
            <p:pic>
              <p:nvPicPr>
                <p:cNvPr id="34" name="Håndskrift 33">
                  <a:extLst>
                    <a:ext uri="{FF2B5EF4-FFF2-40B4-BE49-F238E27FC236}">
                      <a16:creationId xmlns:a16="http://schemas.microsoft.com/office/drawing/2014/main" id="{586923E4-5E05-8003-4FD1-875497C6619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65527" y="1393603"/>
                  <a:ext cx="359100" cy="3036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9" name="Håndskrift 38">
                  <a:extLst>
                    <a:ext uri="{FF2B5EF4-FFF2-40B4-BE49-F238E27FC236}">
                      <a16:creationId xmlns:a16="http://schemas.microsoft.com/office/drawing/2014/main" id="{29599E23-D2FA-90A8-1FF0-80DEF0FB1ACF}"/>
                    </a:ext>
                  </a:extLst>
                </p14:cNvPr>
                <p14:cNvContentPartPr/>
                <p14:nvPr/>
              </p14:nvContentPartPr>
              <p14:xfrm>
                <a:off x="5480232" y="1375586"/>
                <a:ext cx="521640" cy="59760"/>
              </p14:xfrm>
            </p:contentPart>
          </mc:Choice>
          <mc:Fallback xmlns="">
            <p:pic>
              <p:nvPicPr>
                <p:cNvPr id="39" name="Håndskrift 38">
                  <a:extLst>
                    <a:ext uri="{FF2B5EF4-FFF2-40B4-BE49-F238E27FC236}">
                      <a16:creationId xmlns:a16="http://schemas.microsoft.com/office/drawing/2014/main" id="{29599E23-D2FA-90A8-1FF0-80DEF0FB1AC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75210" y="1370344"/>
                  <a:ext cx="531893" cy="7003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03D46866-298E-8A7F-4CCB-C7D0187A33A0}"/>
                  </a:ext>
                </a:extLst>
              </p:cNvPr>
              <p:cNvSpPr txBox="1"/>
              <p:nvPr/>
            </p:nvSpPr>
            <p:spPr>
              <a:xfrm>
                <a:off x="205923" y="2670421"/>
                <a:ext cx="4729382" cy="1239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Beam Shear Stress: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DK" i="1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𝐸𝐼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DK" dirty="0"/>
              </a:p>
              <a:p>
                <a:r>
                  <a:rPr lang="en-US" dirty="0"/>
                  <a:t>In FEM: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DK" i="1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∗(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i="1" dirty="0" smtClean="0"/>
                          <m:t>∂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/>
                          <m:t>∂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i="1" dirty="0" smtClean="0"/>
                          <m:t>∂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dirty="0"/>
                </a:br>
                <a:endParaRPr lang="en-DK" dirty="0"/>
              </a:p>
            </p:txBody>
          </p:sp>
        </mc:Choice>
        <mc:Fallback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03D46866-298E-8A7F-4CCB-C7D0187A3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23" y="2670421"/>
                <a:ext cx="4729382" cy="1239314"/>
              </a:xfrm>
              <a:prstGeom prst="rect">
                <a:avLst/>
              </a:prstGeom>
              <a:blipFill>
                <a:blip r:embed="rId18"/>
                <a:stretch>
                  <a:fillRect l="-116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kstfelt 50">
            <a:extLst>
              <a:ext uri="{FF2B5EF4-FFF2-40B4-BE49-F238E27FC236}">
                <a16:creationId xmlns:a16="http://schemas.microsoft.com/office/drawing/2014/main" id="{9C8585DE-67D7-556E-766F-CEF120FDEE6B}"/>
              </a:ext>
            </a:extLst>
          </p:cNvPr>
          <p:cNvSpPr txBox="1"/>
          <p:nvPr/>
        </p:nvSpPr>
        <p:spPr>
          <a:xfrm>
            <a:off x="4256502" y="2526152"/>
            <a:ext cx="55720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600" b="1" dirty="0"/>
              <a:t>=== L = 20.0 | Bottom nodes (y=</a:t>
            </a:r>
            <a:r>
              <a:rPr lang="en-US" sz="1600" b="1" dirty="0"/>
              <a:t>h/2</a:t>
            </a:r>
            <a:r>
              <a:rPr lang="en-DK" sz="1600" b="1" dirty="0"/>
              <a:t>) ===</a:t>
            </a:r>
          </a:p>
          <a:p>
            <a:r>
              <a:rPr lang="en-DK" sz="1600" b="1" dirty="0"/>
              <a:t>x      | σ_xx FEM | σ_xx Exact | σ_12 FEM  | σ_12 Exact</a:t>
            </a:r>
          </a:p>
          <a:p>
            <a:r>
              <a:rPr lang="en-DK" sz="1600" b="1" dirty="0"/>
              <a:t>0.0 </a:t>
            </a:r>
            <a:r>
              <a:rPr lang="da-DK" sz="1600" b="1" dirty="0"/>
              <a:t>  </a:t>
            </a:r>
            <a:r>
              <a:rPr lang="en-DK" sz="1600" b="1" dirty="0"/>
              <a:t>| 110874.3 | -120000.0</a:t>
            </a:r>
            <a:r>
              <a:rPr lang="da-DK" sz="1600" b="1" dirty="0"/>
              <a:t> </a:t>
            </a:r>
            <a:r>
              <a:rPr lang="en-DK" sz="1600" b="1" dirty="0"/>
              <a:t> | 1064.0 </a:t>
            </a:r>
            <a:r>
              <a:rPr lang="da-DK" sz="1600" b="1" dirty="0"/>
              <a:t>       </a:t>
            </a:r>
            <a:r>
              <a:rPr lang="en-DK" sz="1600" b="1" dirty="0"/>
              <a:t>| 0.0</a:t>
            </a:r>
          </a:p>
          <a:p>
            <a:r>
              <a:rPr lang="en-DK" sz="1600" b="1" dirty="0"/>
              <a:t>5.0 </a:t>
            </a:r>
            <a:r>
              <a:rPr lang="da-DK" sz="1600" b="1" dirty="0"/>
              <a:t>  </a:t>
            </a:r>
            <a:r>
              <a:rPr lang="en-DK" sz="1600" b="1" dirty="0"/>
              <a:t>| 91684.5 </a:t>
            </a:r>
            <a:r>
              <a:rPr lang="da-DK" sz="1600" b="1" dirty="0"/>
              <a:t>  </a:t>
            </a:r>
            <a:r>
              <a:rPr lang="en-DK" sz="1600" b="1" dirty="0"/>
              <a:t>| -90000.0 </a:t>
            </a:r>
            <a:r>
              <a:rPr lang="da-DK" sz="1600" b="1" dirty="0"/>
              <a:t>   </a:t>
            </a:r>
            <a:r>
              <a:rPr lang="en-DK" sz="1600" b="1" dirty="0"/>
              <a:t>| 976.6 </a:t>
            </a:r>
            <a:r>
              <a:rPr lang="da-DK" sz="1600" b="1" dirty="0"/>
              <a:t>          </a:t>
            </a:r>
            <a:r>
              <a:rPr lang="en-DK" sz="1600" b="1" dirty="0"/>
              <a:t>| 0.0</a:t>
            </a:r>
          </a:p>
          <a:p>
            <a:r>
              <a:rPr lang="en-DK" sz="1600" b="1" dirty="0"/>
              <a:t>10.0 | 59701.6 </a:t>
            </a:r>
            <a:r>
              <a:rPr lang="da-DK" sz="1600" b="1" dirty="0"/>
              <a:t>  </a:t>
            </a:r>
            <a:r>
              <a:rPr lang="en-DK" sz="1600" b="1" dirty="0"/>
              <a:t>| -60000.0 </a:t>
            </a:r>
            <a:r>
              <a:rPr lang="da-DK" sz="1600" b="1" dirty="0"/>
              <a:t>   </a:t>
            </a:r>
            <a:r>
              <a:rPr lang="en-DK" sz="1600" b="1" dirty="0"/>
              <a:t>| 1000.0 </a:t>
            </a:r>
            <a:r>
              <a:rPr lang="da-DK" sz="1600" b="1" dirty="0"/>
              <a:t>        </a:t>
            </a:r>
            <a:r>
              <a:rPr lang="en-DK" sz="1600" b="1" dirty="0"/>
              <a:t>| 0.0</a:t>
            </a:r>
          </a:p>
          <a:p>
            <a:r>
              <a:rPr lang="en-DK" sz="1600" b="1" dirty="0"/>
              <a:t>15.0 | 27718.6 </a:t>
            </a:r>
            <a:r>
              <a:rPr lang="da-DK" sz="1600" b="1" dirty="0"/>
              <a:t>  </a:t>
            </a:r>
            <a:r>
              <a:rPr lang="en-DK" sz="1600" b="1" dirty="0"/>
              <a:t>| -30000.0</a:t>
            </a:r>
            <a:r>
              <a:rPr lang="da-DK" sz="1600" b="1" dirty="0"/>
              <a:t>   </a:t>
            </a:r>
            <a:r>
              <a:rPr lang="en-DK" sz="1600" b="1" dirty="0"/>
              <a:t> | 993.6 </a:t>
            </a:r>
            <a:r>
              <a:rPr lang="da-DK" sz="1600" b="1" dirty="0"/>
              <a:t>          </a:t>
            </a:r>
            <a:r>
              <a:rPr lang="en-DK" sz="1600" b="1" dirty="0"/>
              <a:t>| 0.0</a:t>
            </a:r>
          </a:p>
          <a:p>
            <a:r>
              <a:rPr lang="en-DK" sz="1600" b="1" dirty="0"/>
              <a:t>20.0 | 8528.8</a:t>
            </a:r>
            <a:r>
              <a:rPr lang="da-DK" sz="1600" b="1" dirty="0"/>
              <a:t>    </a:t>
            </a:r>
            <a:r>
              <a:rPr lang="en-DK" sz="1600" b="1" dirty="0"/>
              <a:t> | -0.0 </a:t>
            </a:r>
            <a:r>
              <a:rPr lang="da-DK" sz="1600" b="1" dirty="0"/>
              <a:t>            </a:t>
            </a:r>
            <a:r>
              <a:rPr lang="en-DK" sz="1600" b="1" dirty="0"/>
              <a:t>| 995.7 </a:t>
            </a:r>
            <a:r>
              <a:rPr lang="da-DK" sz="1600" b="1" dirty="0"/>
              <a:t>          </a:t>
            </a:r>
            <a:r>
              <a:rPr lang="en-DK" sz="1600" b="1" dirty="0"/>
              <a:t>| 0.0</a:t>
            </a:r>
          </a:p>
        </p:txBody>
      </p:sp>
    </p:spTree>
    <p:extLst>
      <p:ext uri="{BB962C8B-B14F-4D97-AF65-F5344CB8AC3E}">
        <p14:creationId xmlns:p14="http://schemas.microsoft.com/office/powerpoint/2010/main" val="2832114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Locking — Tip Deflection vs Beam Length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1307592"/>
            <a:ext cx="594360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626364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 1.0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(perfect accuracy)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09360" y="822960"/>
            <a:ext cx="2606040" cy="3200400"/>
          </a:xfrm>
          <a:prstGeom prst="rect">
            <a:avLst/>
          </a:prstGeom>
          <a:solidFill>
            <a:srgbClr val="E8F0FE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6309360" y="822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123444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drops sharply as L/h increases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L=20, ν=0.3: only 9% of correct deflection captured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shear locking: bending activates spurious shear strains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present even at ν=0.3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FEM tip deflection / Analytical (Euler-Bernoulli).  Value = 1 → exact.  Value &lt; 1 → locking.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Severity Map — FEM/Analytical Ratio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3657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/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ν=0.30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ν=0.40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ν=0.45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ν=0.49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ν=0.4999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773168"/>
            <a:ext cx="274320" cy="201168"/>
          </a:xfrm>
          <a:prstGeom prst="rect">
            <a:avLst/>
          </a:prstGeom>
          <a:solidFill>
            <a:srgbClr val="C8E6C9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640080" y="47548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  Accurate</a:t>
            </a:r>
            <a:endParaRPr lang="en-US" sz="950" dirty="0"/>
          </a:p>
        </p:txBody>
      </p:sp>
      <p:sp>
        <p:nvSpPr>
          <p:cNvPr id="4" name="Shape 4"/>
          <p:cNvSpPr/>
          <p:nvPr/>
        </p:nvSpPr>
        <p:spPr>
          <a:xfrm>
            <a:off x="2468880" y="4773168"/>
            <a:ext cx="274320" cy="201168"/>
          </a:xfrm>
          <a:prstGeom prst="rect">
            <a:avLst/>
          </a:prstGeom>
          <a:solidFill>
            <a:srgbClr val="FFF9C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2788920" y="47548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0.5–0.9  Moderate locking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17720" y="4773168"/>
            <a:ext cx="274320" cy="201168"/>
          </a:xfrm>
          <a:prstGeom prst="rect">
            <a:avLst/>
          </a:prstGeom>
          <a:solidFill>
            <a:srgbClr val="FFCCBC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4937760" y="47548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0.2–0.5  Severe locking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766560" y="4773168"/>
            <a:ext cx="274320" cy="201168"/>
          </a:xfrm>
          <a:prstGeom prst="rect">
            <a:avLst/>
          </a:prstGeom>
          <a:solidFill>
            <a:srgbClr val="FFCDD2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7086600" y="47548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  Extreme locking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Locking Occur? The Mechanism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069080"/>
          </a:xfrm>
          <a:prstGeom prst="rect">
            <a:avLst/>
          </a:prstGeom>
          <a:solidFill>
            <a:srgbClr val="ECEFF1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Locking Mechanism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371600"/>
            <a:ext cx="3886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438912" y="137160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element has linear displacement field in each parametric coordinate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874520"/>
            <a:ext cx="3886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8"/>
          <p:cNvSpPr/>
          <p:nvPr/>
        </p:nvSpPr>
        <p:spPr>
          <a:xfrm>
            <a:off x="438912" y="187452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 requires quadratic terms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377440"/>
            <a:ext cx="3886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438912" y="237744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can only represent linear terms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880360"/>
            <a:ext cx="3886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438912" y="288036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quadratic terms appear as parasitic shear ε_xy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383280"/>
            <a:ext cx="3886200" cy="420624"/>
          </a:xfrm>
          <a:prstGeom prst="rect">
            <a:avLst/>
          </a:prstGeom>
          <a:solidFill>
            <a:srgbClr val="BBDEFB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438912" y="338328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Element cannot bend without being 'pulled' by shear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886200"/>
            <a:ext cx="3886200" cy="420624"/>
          </a:xfrm>
          <a:prstGeom prst="rect">
            <a:avLst/>
          </a:prstGeom>
          <a:solidFill>
            <a:srgbClr val="BBDEFB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Text 16"/>
          <p:cNvSpPr/>
          <p:nvPr/>
        </p:nvSpPr>
        <p:spPr>
          <a:xfrm>
            <a:off x="438912" y="388620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Structure appears artificially stiff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14800" cy="4069080"/>
          </a:xfrm>
          <a:prstGeom prst="rect">
            <a:avLst/>
          </a:prstGeom>
          <a:solidFill>
            <a:srgbClr val="ECEFF1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Text 19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Locking Mechanism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64608" y="1371600"/>
            <a:ext cx="3886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Text 21"/>
          <p:cNvSpPr/>
          <p:nvPr/>
        </p:nvSpPr>
        <p:spPr>
          <a:xfrm>
            <a:off x="4919472" y="137160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incompressible: εᵥₒₗ = ε_xx + ε_yy ≈ 0 everywhere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64608" y="1874520"/>
            <a:ext cx="3886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5" name="Text 23"/>
          <p:cNvSpPr/>
          <p:nvPr/>
        </p:nvSpPr>
        <p:spPr>
          <a:xfrm>
            <a:off x="4919472" y="187452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must independently satisfy εᵥₒₗ ≈ 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64608" y="2377440"/>
            <a:ext cx="3886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7" name="Text 25"/>
          <p:cNvSpPr/>
          <p:nvPr/>
        </p:nvSpPr>
        <p:spPr>
          <a:xfrm>
            <a:off x="4919472" y="237744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 elements: n constraints on limited DOFs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64608" y="2880360"/>
            <a:ext cx="3886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9" name="Text 27"/>
          <p:cNvSpPr/>
          <p:nvPr/>
        </p:nvSpPr>
        <p:spPr>
          <a:xfrm>
            <a:off x="4919472" y="288036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becomes overconstrained (too many constraints)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64608" y="3383280"/>
            <a:ext cx="3886200" cy="420624"/>
          </a:xfrm>
          <a:prstGeom prst="rect">
            <a:avLst/>
          </a:prstGeom>
          <a:solidFill>
            <a:srgbClr val="B2DFD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1" name="Text 29"/>
          <p:cNvSpPr/>
          <p:nvPr/>
        </p:nvSpPr>
        <p:spPr>
          <a:xfrm>
            <a:off x="4919472" y="338328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field becomes artificially stiff (locking)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64608" y="3886200"/>
            <a:ext cx="3886200" cy="420624"/>
          </a:xfrm>
          <a:prstGeom prst="rect">
            <a:avLst/>
          </a:prstGeom>
          <a:solidFill>
            <a:srgbClr val="B2DFD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3" name="Text 31"/>
          <p:cNvSpPr/>
          <p:nvPr/>
        </p:nvSpPr>
        <p:spPr>
          <a:xfrm>
            <a:off x="4919472" y="388620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Pressure field oscillates wildly (checkerboard)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Locking — Effect of Poisson's Ratio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822960"/>
            <a:ext cx="2606040" cy="3200400"/>
          </a:xfrm>
          <a:prstGeom prst="rect">
            <a:avLst/>
          </a:prstGeom>
          <a:solidFill>
            <a:srgbClr val="E8F0FE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6309360" y="822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0" y="123444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collapses as ν → 0.5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ν=0.4999, L=16: only 0.35% of correct deflection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Incompressibility constraint over-stiffens element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&amp; volumetric locking act simultaneously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FEM / Analytical deflection ratio.  Both axes show that locking worsens in combination.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884</Words>
  <Application>Microsoft Office PowerPoint</Application>
  <PresentationFormat>Skærmshow (16:9)</PresentationFormat>
  <Paragraphs>211</Paragraphs>
  <Slides>12</Slides>
  <Notes>7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Jesper Kloster Pedersen</cp:lastModifiedBy>
  <cp:revision>2</cp:revision>
  <dcterms:created xsi:type="dcterms:W3CDTF">2026-02-22T15:02:29Z</dcterms:created>
  <dcterms:modified xsi:type="dcterms:W3CDTF">2026-02-24T11:12:54Z</dcterms:modified>
</cp:coreProperties>
</file>